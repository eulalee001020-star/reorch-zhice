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2e98af86b4e56" /><Relationship Type="http://schemas.openxmlformats.org/officeDocument/2006/relationships/extended-properties" Target="/docProps/app.xml" Id="Rc95f0730fffa42ae" /><Relationship Type="http://schemas.openxmlformats.org/officeDocument/2006/relationships/officeDocument" Target="/ppt/presentation.xml" Id="Rc9f352c00e484d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aacb7f2b8b4dc3"/>
  </p:sldMasterIdLst>
  <p:notesMasterIdLst>
    <p:notesMasterId xmlns:r="http://schemas.openxmlformats.org/officeDocument/2006/relationships" r:id="Rfa77bf19d6444ad2"/>
  </p:notesMasterIdLst>
  <p:sldIdLst>
    <p:sldId xmlns:r="http://schemas.openxmlformats.org/officeDocument/2006/relationships" id="256" r:id="Re6a04c14e30d4f3a"/>
    <p:sldId xmlns:r="http://schemas.openxmlformats.org/officeDocument/2006/relationships" id="257" r:id="R73ef2ef257d44e72"/>
    <p:sldId xmlns:r="http://schemas.openxmlformats.org/officeDocument/2006/relationships" id="258" r:id="R3a002f3dfdcf483e"/>
    <p:sldId xmlns:r="http://schemas.openxmlformats.org/officeDocument/2006/relationships" id="259" r:id="R388945fcd3a84a7b"/>
    <p:sldId xmlns:r="http://schemas.openxmlformats.org/officeDocument/2006/relationships" id="260" r:id="Rf5429d8c8d5841fc"/>
    <p:sldId xmlns:r="http://schemas.openxmlformats.org/officeDocument/2006/relationships" id="261" r:id="R9c11e379b19149a4"/>
    <p:sldId xmlns:r="http://schemas.openxmlformats.org/officeDocument/2006/relationships" id="262" r:id="Rc4af6c074a394684"/>
    <p:sldId xmlns:r="http://schemas.openxmlformats.org/officeDocument/2006/relationships" id="263" r:id="R69192d67667942e0"/>
    <p:sldId xmlns:r="http://schemas.openxmlformats.org/officeDocument/2006/relationships" id="264" r:id="R35ed524d0347487b"/>
    <p:sldId xmlns:r="http://schemas.openxmlformats.org/officeDocument/2006/relationships" id="265" r:id="R3e94c6a380574e53"/>
    <p:sldId xmlns:r="http://schemas.openxmlformats.org/officeDocument/2006/relationships" id="266" r:id="Rfc6d305cc68a4390"/>
    <p:sldId xmlns:r="http://schemas.openxmlformats.org/officeDocument/2006/relationships" id="267" r:id="Ref2eba06066c4049"/>
    <p:sldId xmlns:r="http://schemas.openxmlformats.org/officeDocument/2006/relationships" id="268" r:id="R3e01b1118a0740b9"/>
    <p:sldId xmlns:r="http://schemas.openxmlformats.org/officeDocument/2006/relationships" id="269" r:id="R945422665c4e4d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ee906ee344c43" /><Relationship Type="http://schemas.openxmlformats.org/officeDocument/2006/relationships/slideMaster" Target="/ppt/slideMasters/slideMaster1.xml" Id="Ra1aacb7f2b8b4dc3" /><Relationship Type="http://schemas.openxmlformats.org/officeDocument/2006/relationships/notesMaster" Target="/ppt/notesMasters/notesMaster1.xml" Id="Rfa77bf19d6444ad2" /><Relationship Type="http://schemas.openxmlformats.org/officeDocument/2006/relationships/presProps" Target="/ppt/presProps.xml" Id="Rfa05d3cf4fce498f" /><Relationship Type="http://schemas.openxmlformats.org/officeDocument/2006/relationships/tableStyles" Target="/ppt/tableStyles.xml" Id="R9e8e60f9e8f2498f" /><Relationship Type="http://schemas.openxmlformats.org/officeDocument/2006/relationships/slide" Target="/ppt/slides/slide1.xml" Id="Re6a04c14e30d4f3a" /><Relationship Type="http://schemas.openxmlformats.org/officeDocument/2006/relationships/slide" Target="/ppt/slides/slide2.xml" Id="R73ef2ef257d44e72" /><Relationship Type="http://schemas.openxmlformats.org/officeDocument/2006/relationships/slide" Target="/ppt/slides/slide3.xml" Id="R3a002f3dfdcf483e" /><Relationship Type="http://schemas.openxmlformats.org/officeDocument/2006/relationships/slide" Target="/ppt/slides/slide4.xml" Id="R388945fcd3a84a7b" /><Relationship Type="http://schemas.openxmlformats.org/officeDocument/2006/relationships/slide" Target="/ppt/slides/slide5.xml" Id="Rf5429d8c8d5841fc" /><Relationship Type="http://schemas.openxmlformats.org/officeDocument/2006/relationships/slide" Target="/ppt/slides/slide6.xml" Id="R9c11e379b19149a4" /><Relationship Type="http://schemas.openxmlformats.org/officeDocument/2006/relationships/slide" Target="/ppt/slides/slide7.xml" Id="Rc4af6c074a394684" /><Relationship Type="http://schemas.openxmlformats.org/officeDocument/2006/relationships/slide" Target="/ppt/slides/slide8.xml" Id="R69192d67667942e0" /><Relationship Type="http://schemas.openxmlformats.org/officeDocument/2006/relationships/slide" Target="/ppt/slides/slide9.xml" Id="R35ed524d0347487b" /><Relationship Type="http://schemas.openxmlformats.org/officeDocument/2006/relationships/slide" Target="/ppt/slides/slide10.xml" Id="R3e94c6a380574e53" /><Relationship Type="http://schemas.openxmlformats.org/officeDocument/2006/relationships/slide" Target="/ppt/slides/slide11.xml" Id="Rfc6d305cc68a4390" /><Relationship Type="http://schemas.openxmlformats.org/officeDocument/2006/relationships/slide" Target="/ppt/slides/slide12.xml" Id="Ref2eba06066c4049" /><Relationship Type="http://schemas.openxmlformats.org/officeDocument/2006/relationships/slide" Target="/ppt/slides/slide13.xml" Id="R3e01b1118a0740b9" /><Relationship Type="http://schemas.openxmlformats.org/officeDocument/2006/relationships/slide" Target="/ppt/slides/slide14.xml" Id="R945422665c4e4d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d697a1853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01050e03da4dfb" /><Relationship Type="http://schemas.openxmlformats.org/officeDocument/2006/relationships/notesMaster" Target="/ppt/notesMasters/notesMaster1.xml" Id="R6501daee527e45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c9d41b8b064b70" /><Relationship Type="http://schemas.openxmlformats.org/officeDocument/2006/relationships/notesMaster" Target="/ppt/notesMasters/notesMaster1.xml" Id="R62d096908bb7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f86fb7406414e" /><Relationship Type="http://schemas.openxmlformats.org/officeDocument/2006/relationships/notesMaster" Target="/ppt/notesMasters/notesMaster1.xml" Id="R14da1a944c114a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6e35ccf194c9c" /><Relationship Type="http://schemas.openxmlformats.org/officeDocument/2006/relationships/notesMaster" Target="/ppt/notesMasters/notesMaster1.xml" Id="Reeb6d418fd5149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255ebb64114a13" /><Relationship Type="http://schemas.openxmlformats.org/officeDocument/2006/relationships/notesMaster" Target="/ppt/notesMasters/notesMaster1.xml" Id="R0dbfab8a89b548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61b45f9bc47e5" /><Relationship Type="http://schemas.openxmlformats.org/officeDocument/2006/relationships/notesMaster" Target="/ppt/notesMasters/notesMaster1.xml" Id="R5a0df2b804b045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a8392f9d25446d" /><Relationship Type="http://schemas.openxmlformats.org/officeDocument/2006/relationships/notesMaster" Target="/ppt/notesMasters/notesMaster1.xml" Id="Rdc01b0161b3844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9e52f93d124468" /><Relationship Type="http://schemas.openxmlformats.org/officeDocument/2006/relationships/notesMaster" Target="/ppt/notesMasters/notesMaster1.xml" Id="R1c8f9778b7bb4b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8e003126f406a" /><Relationship Type="http://schemas.openxmlformats.org/officeDocument/2006/relationships/notesMaster" Target="/ppt/notesMasters/notesMaster1.xml" Id="Ra1708afd1c9a43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f61c9bd7b749a3" /><Relationship Type="http://schemas.openxmlformats.org/officeDocument/2006/relationships/notesMaster" Target="/ppt/notesMasters/notesMaster1.xml" Id="R8d596f0966b346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3872c8941d4c3d" /><Relationship Type="http://schemas.openxmlformats.org/officeDocument/2006/relationships/notesMaster" Target="/ppt/notesMasters/notesMaster1.xml" Id="Rf2f718a3d93c4a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9d61bb59284464" /><Relationship Type="http://schemas.openxmlformats.org/officeDocument/2006/relationships/notesMaster" Target="/ppt/notesMasters/notesMaster1.xml" Id="R8b8a843e0e194a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7f27fc1f344e12" /><Relationship Type="http://schemas.openxmlformats.org/officeDocument/2006/relationships/notesMaster" Target="/ppt/notesMasters/notesMaster1.xml" Id="R04a2ab501ab844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9294b9f5234f4c" /><Relationship Type="http://schemas.openxmlformats.org/officeDocument/2006/relationships/notesMaster" Target="/ppt/notesMasters/notesMaster1.xml" Id="R35f140ec47a74e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68e25f54e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add34af5874b0d" /><Relationship Type="http://schemas.openxmlformats.org/officeDocument/2006/relationships/slideLayout" Target="/ppt/slideLayouts/slideLayout1.xml" Id="Rcdcbf8d60bf442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bf8d60bf442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d1bf8c04a4db9" /><Relationship Type="http://schemas.openxmlformats.org/officeDocument/2006/relationships/notesSlide" Target="/ppt/notesSlides/notesSlide1.xml" Id="R83dd0235c8bd4d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10ef9ee0342dd" /><Relationship Type="http://schemas.openxmlformats.org/officeDocument/2006/relationships/notesSlide" Target="/ppt/notesSlides/notesSlide2.xml" Id="R2360ad67a720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2124dfb5d4aa4" /><Relationship Type="http://schemas.openxmlformats.org/officeDocument/2006/relationships/notesSlide" Target="/ppt/notesSlides/notesSlide3.xml" Id="R3260b0af0538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f7d46d2b94cb0" /><Relationship Type="http://schemas.openxmlformats.org/officeDocument/2006/relationships/notesSlide" Target="/ppt/notesSlides/notesSlide4.xml" Id="Rce8dc9e164f645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aee2689e44168" /><Relationship Type="http://schemas.openxmlformats.org/officeDocument/2006/relationships/notesSlide" Target="/ppt/notesSlides/notesSlide5.xml" Id="Rb49bd959e1ff4c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8b7b3bd2e4e0b" /><Relationship Type="http://schemas.openxmlformats.org/officeDocument/2006/relationships/image" Target="/ppt/media/image.png" Id="R32d96f99501b4d9d" /><Relationship Type="http://schemas.openxmlformats.org/officeDocument/2006/relationships/image" Target="/ppt/media/image2.png" Id="R42cb36ffdbff450c" /><Relationship Type="http://schemas.openxmlformats.org/officeDocument/2006/relationships/notesSlide" Target="/ppt/notesSlides/notesSlide6.xml" Id="R32337ca2aea34d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01deb5f5e4f88" /><Relationship Type="http://schemas.openxmlformats.org/officeDocument/2006/relationships/notesSlide" Target="/ppt/notesSlides/notesSlide7.xml" Id="R77a10b41ee97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09e8aa3834d17" /><Relationship Type="http://schemas.openxmlformats.org/officeDocument/2006/relationships/notesSlide" Target="/ppt/notesSlides/notesSlide8.xml" Id="R0c3f583f950447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dfd34607c4d4d" /><Relationship Type="http://schemas.openxmlformats.org/officeDocument/2006/relationships/notesSlide" Target="/ppt/notesSlides/notesSlide9.xml" Id="Rf76ebbfb90fb47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2c5db96ee4843" /><Relationship Type="http://schemas.openxmlformats.org/officeDocument/2006/relationships/notesSlide" Target="/ppt/notesSlides/notesSlide10.xml" Id="R06fdc4f297a644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06cca56e94027" /><Relationship Type="http://schemas.openxmlformats.org/officeDocument/2006/relationships/notesSlide" Target="/ppt/notesSlides/notesSlide11.xml" Id="R1295c9ca153c42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85fd52acb464e" /><Relationship Type="http://schemas.openxmlformats.org/officeDocument/2006/relationships/notesSlide" Target="/ppt/notesSlides/notesSlide12.xml" Id="R5fbf942290114c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81faa8ce54a20" /><Relationship Type="http://schemas.openxmlformats.org/officeDocument/2006/relationships/notesSlide" Target="/ppt/notesSlides/notesSlide13.xml" Id="R54bfbdc1183d47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ffd1fb384924" /><Relationship Type="http://schemas.openxmlformats.org/officeDocument/2006/relationships/notesSlide" Target="/ppt/notesSlides/notesSlide14.xml" Id="R00c78d14674e44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D80EC-B433-4F97-9B4B-9B5CB35A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ReOrch 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C001E-5192-414F-A2BA-FF14E25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从异常重决策切入的 AI 排产操作系统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865EE-7E4E-40B0-AAC8-8E4962A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66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第一性原理：排产不是画甘特图，而是在有限资源、复杂约束和现场扰动下持续回答做什么、何时做、用什么做、为什么这样排、计划变了怎么办。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C227F-13CA-42D8-95C9-55C70D6B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F5C40-BAC7-4BC1-B37A-7118A49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轻量接入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0CC4A-C1C5-485D-9AEA-55A14E92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7B67C-B720-4AF4-BF45-FE17CAD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6712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分钟级重决策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398E3-360C-4E31-87FE-1F44FD1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7801-9D77-4337-B9E9-B6D5DE3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671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经验资产化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1CB42-75D8-4A05-AD83-7D2162CC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010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83678-308F-44DC-BEDE-DF83A29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09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4A3B8"/>
                </a:solidFill>
              </a:defRPr>
            </a:pPr>
            <a:r>
              <a:rPr sz="1125" b="1">
                <a:solidFill>
                  <a:srgbClr val="94A3B8"/>
                </a:solidFill>
              </a:rPr>
              <a:t>Base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854EC-828A-4861-A303-C1E8A24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ERP / MES / 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D9E38-B5B2-43A2-90A9-01C5E0B1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38400"/>
            <a:ext cx="3905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D243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903CD-EED1-4B21-AFF0-2D5B77AB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Decision Orchestration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2FBC1-F92E-40DF-A3F5-91147F0D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0375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异常重决策</a:t>
            </a:r>
          </a:p>
          <a:p xmlns:a="http://schemas.openxmlformats.org/drawingml/2006/main">
            <a:pPr algn="ctr"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编排与确认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C2016-C4B2-4A61-B5EB-24E4F94D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D1A73-74D3-4493-ADA5-52610F66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4A3B8"/>
                </a:solidFill>
              </a:defRPr>
            </a:pPr>
            <a:r>
              <a:rPr sz="1125" b="1">
                <a:solidFill>
                  <a:srgbClr val="94A3B8"/>
                </a:solidFill>
              </a:rPr>
              <a:t>Execution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18629-B8EA-405F-9352-5DA616B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29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计划员 / 车间 / 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47D4D-56BC-44AE-82DA-1F7AC12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当前切口：异常重决策层；长期路线：补齐完整 APS 能力后走向企业 AI 排产操作系统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A2C11-575B-4E4D-9217-4DB34E9C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411892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24B94-A20D-469F-8029-832000AF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55830-158B-4AA6-9244-1A4F94A8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市场窗口从“建系统”转向“用现有系统做在线决策”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9B422-BDC3-4215-BD95-7A7793D4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15C03-916E-434E-9531-56010A90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2BCA3-A43B-41A5-A4C0-4BE3F246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1000+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885CB-038A-4FF7-AB60-7B7F92DA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政策目标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2F845-4F2F-4011-92B8-09A3E15F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到 2027 年推出高水平工业智能体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F36FD-7076-4DCA-8DDB-E7F87542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750AB-0169-42A1-9E7C-E8A90290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&gt;40%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44674-5067-42C2-A4E0-77B6C12A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AI 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55E26-6E73-45A2-9581-BF232C5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IDC 预测已部署 APS 的中国制造商将在 2026 年升级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75620-9022-4FCC-A977-DAD1FCF7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A3B9E-74D2-46B2-8573-071A43CB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B8A6"/>
                </a:solidFill>
              </a:defRPr>
            </a:pPr>
            <a:r>
              <a:rPr sz="2550" b="1">
                <a:solidFill>
                  <a:srgbClr val="14B8A6"/>
                </a:solidFill>
              </a:rPr>
              <a:t>$446B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EDB8E-A9B4-4B81-9AB5-04AF4422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智能制造市场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3F471-10B9-496D-8C26-787DD77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2026 年全球宽口径智能制造市场背景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5F4A0-384A-4E39-988E-508BEFE5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9B497-782D-4710-BC7C-F18D1A8A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66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C55E"/>
                </a:solidFill>
              </a:defRPr>
            </a:pPr>
            <a:r>
              <a:rPr sz="2550" b="1">
                <a:solidFill>
                  <a:srgbClr val="22C55E"/>
                </a:solidFill>
              </a:rPr>
              <a:t>ROI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37836-87EF-4151-BF63-D0B9EF8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客户采购逻辑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3F626-28C0-4DA3-A9ED-24618DDD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从扩张建设转向价值优化和持续交付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89825-B29B-4046-84F8-EA86CF88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E9B15-0FF8-438E-A68D-C30F044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国家专项行动明确覆盖排产调度、工业智能体、供应链管理、数据治理和安全治理。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93D25-38B1-4B61-87F5-6C81326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EC69B-77F9-4B45-A3BE-F9319A2A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制造企业已不满足于记录和看板，开始追求 AI 驱动的计划、控制和人机协同。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C0196-D216-4E1B-940A-E0F99782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563D4-2A57-46C9-A469-A452E683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ReOrch 的近期市场不是宽口径智能制造，而是复杂离散制造里的异常重排和 AI APS 插件。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E0ADD-3995-4EA1-849B-608E54E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来源：工信部等八部门、IDC FutureScape 2026、深圳行动计划、Fortune Business Insights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FE3F2-5F09-483C-B94B-1D1A2A63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2071732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2776BA-C7BB-47CD-AEA4-9D1E2B0C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F2E2B-9AF0-4AE4-B476-2E08F0F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客户真正付费的痛点是计划被打断后的组织失速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848E3-B8FB-4209-A60E-3D62C43C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05A58-5DEF-4D48-8D8D-47F3B751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231B24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D8620-75F4-49AA-AC00-33DA6EA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511CE-578C-4C38-9E2D-BEAD89D4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异常发生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F78E4-844E-47F8-910E-37774FD7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设备故障、插单、缺料、返工打断基准计划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1F5E5-31B4-442E-B2B0-5FD9F6E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B646F-457C-408B-BE10-4D4F9CC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BD7E9-26D4-4FEE-A9C0-CDF3C5E7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ACB92-CFE3-4969-AE6B-550D3635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影响扩散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86445-C7BC-45FA-8AF7-D3A87CC8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交期、换线、瓶颈资源和下游工序相互牵连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ECC54-FFE5-4D3A-BCEE-ACF69475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47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A1BA9-CD2B-45A3-BC89-F994D275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F5B08-AEEE-4F3F-8933-73CD8641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FD342-2B57-4341-8229-6666D40D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反复协调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5EA65-B8AF-4BE9-AEE5-F9B9977C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计划、车间、设备、物料、销售反复确认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540D5-EA1C-49F4-AEFB-BA6A37AC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97CCE-7C31-4692-A823-83D2BBDF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0EAEF-4A66-413D-99AD-8F33094E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38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DC44C-5C8A-4E0A-8A7A-B6E6E487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执行失速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85250-78F4-43A5-BEAD-C7D3502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90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方案难追溯，经验留在人身上而非系统里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EC47F-F512-4D71-BD7D-D8F9D562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1DA18-DC36-4154-902F-F8C6C165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首批客户画像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7E23A-B6BA-4256-8E94-23E63A4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95850"/>
            <a:ext cx="455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多品种小批量、工艺路径复杂、每周多次异常影响排程；已有 ERP/MES/APS 或至少能导出关键字段；计划员仍大量依赖 Excel、电话和个人经验。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DEBAD-BD6E-4013-A707-0146A893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3EE06-BE72-40C9-B189-1D5CB93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不优先客户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E96AD-2C94-4581-91AE-6E28903B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异常频率低、生产节拍稳定、基础数据缺失严重，或要求首期替换全厂 ERP/MES/APS 的客户。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9CB31-0225-42F3-BE63-7A6EEE73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当前口径：MVP + 受控验证，不宣称客户生产无人值守上线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36785-0155-43D7-89A7-A7C7FA0B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2087425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5034B2-94BB-448B-A48C-055FF676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FF182-80C1-4438-AA89-4A40726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ReOrch 补的是 ERP/MES/APS 之上的异常重决策层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2A13A-A4DB-497A-8C7B-31C26B08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92BAD-C682-4A11-892A-3C2696E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571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DF6DE-545F-4AD0-9E7C-94EA735B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383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8BDF8"/>
                </a:solidFill>
              </a:defRPr>
            </a:pPr>
            <a:r>
              <a:rPr sz="2025" b="1">
                <a:solidFill>
                  <a:srgbClr val="38BDF8"/>
                </a:solidFill>
              </a:rPr>
              <a:t>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BAD71-9061-4DEF-89E9-BA09EC15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AB33E-B363-421B-B203-186A6CF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订单、客户、物料、交期、主数据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968EC-DB29-4AC5-A3E7-C1B4AB22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571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F7B18-DD3A-42F4-A518-C53A6B1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B8A6"/>
                </a:solidFill>
              </a:defRPr>
            </a:pPr>
            <a:r>
              <a:rPr sz="2025" b="1">
                <a:solidFill>
                  <a:srgbClr val="14B8A6"/>
                </a:solidFill>
              </a:rPr>
              <a:t>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23B3-58E1-48D8-A5CC-802D71E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8CE1C-1CA1-4707-91AD-25528037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执行反馈、设备状态、工序报工、现场事件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7BCF4-45BD-4126-9AC6-9FE6A201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571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97D2E-A445-446C-8350-9EE5CEB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433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9E0B"/>
                </a:solidFill>
              </a:defRPr>
            </a:pPr>
            <a:r>
              <a:rPr sz="2025" b="1">
                <a:solidFill>
                  <a:srgbClr val="F59E0B"/>
                </a:solidFill>
              </a:rPr>
              <a:t>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CE883-F721-4D57-867C-12CA6192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AA670-0607-4C3A-A7B3-823482B1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基准排程、有限产能计划、排程快照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6DBA1-0A4A-4141-A666-CFAD8007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571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A1C12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CE3EF-C428-482D-8B84-F45844F6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958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ReOrch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0A41B-DAEF-4FC3-B11C-13ECE7E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DE2E3-8ABF-4CC1-9D6F-909EF03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影响分析、候选比较、人工确认、审计和经验沉淀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47441-BAE7-4B07-8244-AC91739B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32956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F6799-4AD7-4E69-9527-78C657E8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28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产品边界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FA3D6-D2E2-4F0B-B0A2-F6969918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14911-BEED-404F-A70F-352584D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438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不替代主数据和生产执行底座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ABED8-AC13-4FAE-BBE4-9E99DF7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8EFAB-5B28-4C25-99E2-F2CD0D6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14675"/>
            <a:ext cx="2438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不承诺无人值守自动调度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1CB71-1EB4-42F3-A2ED-A0E3D7A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73C5A-7947-4B82-90FD-1DB16E3F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438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不让 LLM 直接生成最终排程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E8CDF-CF4E-46AE-AF32-54393E12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07B23-09FB-4897-96EE-C3E3F0C0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2438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通过质量门与人工确认控制风险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F46296-0AB3-4CD5-A5E3-428D89F9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当前是主系统上方的异常层；长期要替代排产系统，必须补齐基础排程、全约束、生产发布和 SLA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E48ED-0404-4E98-B877-47C11A33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1484364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64C5F-24C2-4701-B07B-B6ADC408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F2D9E-07C9-4925-808C-5A5628D1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第一性原理下的优势：我们降低的是计划失效后的四类成本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E7FB3-753F-4E28-86D9-FA6BDEFA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0DC88-4153-4769-87C6-4E195FE7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2479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E4887-C9CE-4983-9216-A81A35E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时间成本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A4C20-F28F-465C-94A0-FE3B3D58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异常后从发现到候选方案的等待时间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EA725-642D-4C02-A492-EA2B357B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2479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81832-8553-4071-9AA4-7B4E526F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协调成本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EB1A8-D628-49D1-BC75-3D0E5906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计划、车间、设备、物料、销售反复确认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FD322-6941-4668-A215-3C0DCD0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22479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AEF6B-E2B7-4BEB-A7AB-9C9DB05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决策成本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2FE70-9288-485A-945E-AB443D4A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交期、换线、加班、瓶颈之间的取舍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23BF7-1DF7-4706-A16A-E1D44D86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22479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3C63A-9C1C-4989-8C97-FECA93E0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组织成本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B517C-F7BE-4E7B-A2F6-75FA76E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老师傅经验无法沉淀，新人难接手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6D703-3634-4AB7-ABF6-F5DF4F10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为什么不用金蝶、用友，而是 ReOrch？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DBE36-EB55-4CAB-858F-DC7029D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8167C-E3D2-422F-89ED-8F78705B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金蝶、用友强在 ERP、财务、供应链、制造执行、主数据和企业生态。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EAB65-B7E2-449F-8B2C-D2469A85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B70C5-C65D-4C44-8A0E-0CFA1175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ReOrch 不正面替换主系统，先占住异常发生后的判断、比较、确认和复盘入口。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F3920-194A-42D0-AD46-CAD131C2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73A78-1DB2-4E79-A5E0-327B1018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短期更窄、更快、更贴异常现场；长期通过补齐 APS 能力逐步减少客户对传统排产系统依赖。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233B1-02D1-4ED3-9784-9CAAFED0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619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B2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485EE-DDE5-43BF-9951-A5A0E3AF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核心差异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873E4-BA25-41DA-AEEB-C12506D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FD441-65F1-4D0F-9C0E-6ACE687A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005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低侵入：只读接入 -&gt; replay -&gt; shadow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709B9-6426-4E84-AE22-0CF0262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7E057-B10A-4E7A-A2AB-D8000BCB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2440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AI 不拍板：求解器、质量门、人确认兜底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A4354-F641-49ED-8D19-942A7978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33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379034-1924-42DA-9A21-E9A22582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48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经验资产化：override 进入案例库和偏好画像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7AF44-6A16-4DFE-907A-D56B809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这页回应投资人最常问的问题：不是比巨头大，而是先切巨头系统之间未闭合的异常决策链路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8F277F-29D7-41A6-81B8-5819B440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1452596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1F40A-7122-457C-A272-C1D81581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22FC8-CAEE-46C5-88BF-D6AA03CE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当前不是 BP 阶段，MVP 已经形成可运行闭环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83560-8759-421A-9D20-660B2C85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0C5E0-5096-4B82-AC00-30C4C12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32EE7-3945-4793-A9BA-C32FAB11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695FA-A276-4C51-9287-87703E3B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558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后端 API、前端工作台、demo 数据和 Docker Compose 演示环境。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2B2E7-AA4D-412D-B6F9-5BA39BE6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1D2FA-0E15-4375-B2DA-09E2E5D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558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异常接入、影响分析、策略选择、Top-K 候选、质量门、人工确认、mock 回写、案例沉淀。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CB823-444A-46ED-879F-74029E62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E6005-9AB3-4816-A1B1-5B156155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558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Data Readiness、Evidence Center、规则审核、偏好画像、NGS Lab 等验证入口。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F9681-D729-4E72-84B7-6438EDA0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502CB-76D5-4A2E-979E-6525598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558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上线就绪评估、失败样本库、LLM Agent 离线评测、shadow mode 计划和客户数据合同。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96f99501b4d9d"/>
          <a:srcRect xmlns:a="http://schemas.openxmlformats.org/drawingml/2006/main" l="0" t="8717" r="0" b="8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657350"/>
            <a:ext cx="4000500" cy="224790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b36ffdbff450c"/>
          <a:srcRect xmlns:a="http://schemas.openxmlformats.org/drawingml/2006/main" l="0" t="23761" r="0" b="23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4133850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D1A71-4C04-451B-B9B0-D84E948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证据来自本仓库 README、产品说明、上线就绪评估和前端截图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04D60-F1D8-4E44-9AA1-D4DFA4A8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731060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17916-B120-4715-8455-7A1453B1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EF049-0CB8-4B3E-B346-C367811E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工作流围绕“可用方案 + 人工确认 + 审计追溯”设计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C374F-3095-46B4-BE4B-2D99FD7E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A353D-5213-4BCF-A687-F923A13B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D09D0-D577-4818-8949-82EFCBD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异常接入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DDFB2-D391-4A73-9E8E-DCA4712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文本/MES/IoT/CSV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1E6B9-1433-4F90-9EE0-D0465A32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6FFD3-4F98-49D2-AC53-CC34A296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E45C8-2FA2-4379-9B4B-214A1A06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影响分析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86C08-C17A-4605-82C8-E17DC5B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工单、资源、交期风险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3EB6A-269B-400D-A7B8-238EE778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651A5-6A03-4279-B031-88979EC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1E078-2A85-48D5-821C-D6EF29A6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策略路由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5C20D-A2F6-4592-A2C6-A1D1ABEE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等待/局部/全局/人工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A4E57-7D8D-4844-BA54-67C3122C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7466A-1F55-4498-80C2-32893867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AF425-A055-4C16-9569-837D6B86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候选生成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EF364-E390-4269-ACDF-9A77D66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Top-K 可执行方案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AE288-6575-4558-9014-61B38892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12882-DD94-4913-A9DA-E1ED27BA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质量门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35A545-9E0C-4CCF-A767-B0B80CC6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硬约束、缺字段、权限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456B0-F3F0-4972-B218-59F5BBB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0D692-DE31-4703-AE28-C2CB9C0D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4875D-51CC-4695-8451-DF2D3A8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人工确认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C7DCD-2E04-4B97-A3C1-A106AA59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48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接受、微调、驳回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7E7CC-6659-483F-B23B-FC7BAD98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38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6E1A53-4699-4E88-AE46-ABE60B40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EFE499-C221-4D37-B7B7-709AC14A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受控回写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AE1F3-E2AA-44DD-AD32-5A78C11F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预览、幂等、回滚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E626E-B4C8-47E7-944C-DABBC45F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A12B2-8C41-4F5E-B63A-033D843E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E41DEF-E22F-4D14-9203-6DB74E07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案例沉淀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60024-8F83-4E47-8BBE-2865AAD5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48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override 与执行反馈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1AB83-70ED-4F37-8069-61838942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系统不让模型绕过质量门。数据缺失、硬约束失败、权限不足或解释不可追溯时，输出降级为人工复核或 readiness 修复。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12E75-9FFE-4FD8-9E3D-82778638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当前口径：MVP + 受控验证，不宣称客户生产无人值守上线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135304-D81D-4E3B-82CB-8E7E45A0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327109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128CFB-318C-4CD6-841E-67C39E6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02337-0BBD-4F8C-9981-124EA95E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验证证据已经出现，但必须守住生产口径边界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37CDA-6017-4FAB-AE2C-DA314375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91E5D-EEB6-4FC0-9C16-93E9B73A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98A65-A767-4AD3-AB67-1C66769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3C3D8-5CA0-4752-A626-5803F901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Replay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DBC09-A9BF-4494-BCB8-075F90B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受控实验室 / 数字孪生样本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9670C-4D33-4E91-9846-BBBA0E75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88C11-5441-419B-AF97-13603BB6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C55E"/>
                </a:solidFill>
              </a:defRPr>
            </a:pPr>
            <a:r>
              <a:rPr sz="2550" b="1">
                <a:solidFill>
                  <a:srgbClr val="22C55E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96BE4-C139-48FC-90C5-3144A63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Top-1 采纳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829B0-A371-495A-869A-D38BE8B5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86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严格 Top-1 直接采纳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E89EB-4B11-46E6-8563-8DBC59D8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B71BE-B25D-49FB-A4E6-D5068312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B8A6"/>
                </a:solidFill>
              </a:defRPr>
            </a:pPr>
            <a:r>
              <a:rPr sz="2550" b="1">
                <a:solidFill>
                  <a:srgbClr val="14B8A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AE357-86C2-48A9-8202-5B315B9E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Top-K 微调采纳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CEA67-ACE1-47CD-988D-3B585BD1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计划员偏好微调后采纳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CEC6C-69EE-465F-9917-5DFC24F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3ADA6-3EC6-4530-81F3-F40DD49B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07868-6F74-4935-AD99-BE773379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驳回 / 退回人工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D7205-B367-41C7-912D-4221052C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数据或质量状态不足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B5204-7817-4EE4-A9FC-80BA76D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22B66-0B32-40F7-AD87-865F1FA3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可以证明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ABC3B-884A-4236-98D6-7E76A85A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系统能记录推荐、采纳、微调、驳回和原因归因；质量门和停损规则能阻断不可审计方案；MVP 具备受控 replay 的闭环基础。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A1AC1-F4DD-49CD-87F0-4EDB34A6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9A54C-6C60-40B6-9344-BA8A1476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243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不能证明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9A54E-15D5-4C45-8DD7-62D1BF6A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不能证明客户现场一定达到同样 ROI、采纳率或延期改善；不能证明已经完成生产上线；不能承诺无人值守自动调度。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0BB72-EFA0-4A2E-965E-7AAAA69B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这是路演可信度关键：主动给边界，比过度包装更容易通过尽调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76D7A-FCB3-47E0-BE36-6F83336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1571755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30AFF5-3094-4EAF-8FFF-FF4793D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D1B7E-CB60-483D-BBBF-837556AE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商业模式从单车间付费 PoC 切入，再转年费和场景扩展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ED19B-F4D4-435B-B61D-F1ACD9C2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43792-5F56-4F02-8C4C-78541A27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B560F-2574-472F-ADF4-638A5564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Land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7492B-EEFF-4F93-BA5D-F139DA68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20-30 万元</a:t>
            </a:r>
          </a:p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4-6 周付费 PoC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540C8-7290-4542-9A09-15BC0C2D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1 个车间、1 个高频异常、1 个数据源；交付数据就绪、历史 replay、Top-K 候选和 ROI 复盘。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CAE54-7CCA-4E94-97F2-7EC06258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191C4-DACA-4CBE-BE11-DB8ED910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A6"/>
                </a:solidFill>
              </a:defRPr>
            </a:pPr>
            <a:r>
              <a:rPr sz="2250" b="1">
                <a:solidFill>
                  <a:srgbClr val="14B8A6"/>
                </a:solidFill>
              </a:rPr>
              <a:t>Convert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19BA7-358D-40AE-8C50-48E1253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30-50 万元/车间/年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B7E9B-9748-4AA9-A098-82A4600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PoC 证明使用频率、方案采纳和价值闭环后转订阅或 license。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7081-1819-4EFD-B462-B180CB04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30247-2B95-4AF2-BC79-761BF946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Expand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7425C-EFBE-43A8-914C-9BA6AD0E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场景/车间/私有化扩展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3F06D-E30A-464C-A6C3-35FD3187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插单、缺料、返工、人员日历、工装夹具、MES/APS 深度集成和仿真包。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9149E-8A06-472F-B7BA-D9CB209D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PoC 验收指标：异常到方案时间、硬约束可行率、Top-K 覆盖、计划员确认记录、延期/换线/协调成本复盘。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2BBA6-9D3E-4861-8B01-530FF6F4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当前口径：MVP + 受控验证，不宣称客户生产无人值守上线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608DB-E39F-4C36-ADDD-F488F39E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14854333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DB088-5768-4102-B385-E57ABFA7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4C3B1-B82C-4321-A15C-B829C937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竞争不是“谁会算”，而是谁占住异常决策入口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183DA-8D8E-405E-A24E-49B53122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A947-1DC3-4B54-B23C-0F3EA49E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400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99E9B-7DB2-4A13-98E1-7990A27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ERP/MES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EDF89-9630-4FE5-A7ED-BD5E51C6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81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强在记录和执行；异常重决策通常不是核心。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C987F-49EE-43D9-AC55-42CCCF03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00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BF35D-5966-4628-AF9B-288E48F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成熟 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5D86D-2461-4529-B9D3-2164504B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48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具备排程和重排；但解释、确认、override 沉淀和轻量异常入口仍可补位。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762C7-7DCB-4F8B-9209-53A8F71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400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911EB-2B0C-4BA9-B858-71C4EA6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通用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A9EA1-5821-4F1C-B37F-1F8A46D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强在理解表达；缺少工业约束、质量门、回写和审计。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394FC-A609-4A2D-B408-88F7FC3F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4667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1B2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BF727-68AF-49A8-A073-354A032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97316"/>
                </a:solidFill>
              </a:defRPr>
            </a:pPr>
            <a:r>
              <a:rPr sz="2175" b="1">
                <a:solidFill>
                  <a:srgbClr val="F97316"/>
                </a:solidFill>
              </a:rPr>
              <a:t>ReOrch 的中期壁垒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2F937-7653-4B55-AD77-D0C26A5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D8B29-F6A7-4A78-9B6F-B8D95B84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高频异常入口和状态机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B4DAC-5A7E-4AF5-927E-CED236FD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C703B-E2FD-497E-8E16-E4C61B87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客户约束模板和数据合同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E0036-93DA-46C3-9760-48AE3D4B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2F5C3-C9A3-4897-92FF-940F8755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人工 override 与偏好画像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E2872-4FE6-4BEE-B325-76851815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37AE9-58CB-4756-9769-B48CBA1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案例图谱和执行反馈闭环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1F73D-FED3-4FCF-B8C2-3F21A7D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1DD3A-6593-4911-9440-8871B8B4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ERP/MES/APS 上方的低侵入集成位置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D2AFC-FC03-4AF1-8314-8057C4EB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更稳表述：不否定主系统，而是在主系统之上补异常响应、确认和经验资产层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77CD8-DA4A-4632-999F-19A592BA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1320300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F38B3-D66A-4F2B-9C5E-7487046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6955E-6AC1-4E15-87AC-FC19AABF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若要让客户不再用其他排产系统，必须补齐完整 APS 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62868-6C4E-4264-B5C1-118FE62B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E606E-F086-4493-B495-312118A0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7BB12-66AB-4A70-8BF8-47518805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基础排程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0909E-C856-4843-8156-3515F063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初始排程、日/周/滚动计划、冻结窗口、版本、发布与回滚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E1395-3307-4F6A-850A-7837B52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6C7A3-A486-47E8-84F0-5D1AC1A5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全约束库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1AAA2-AA53-4F7A-BCF5-EA3CEF18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工艺路线、设备能力、物料齐套、人员技能、工装、外协、质量返工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66D78-DE25-4D4E-876B-2D5EDC95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5EBCD-87AF-4129-A548-109D4C9C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系统集成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63B12-BF7B-443E-BDBA-FF48A8D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ERP/MES/WMS/QMS/IoT 双向接口、字段映射、增量同步、数据血缘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A1611-BBBE-4F38-820A-3422E557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D910F-68D2-472F-AADC-CEC7801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求解性能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A6CA5-E241-4E07-B8C6-3A5C4C7E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CP-SAT、启发式、仿真、超时可行解、最优性 gap、大规模压测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2946D-DE6C-4706-8489-26213BB5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79D9D-5FD6-48EB-9774-1DAC1C47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AI 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6B5C6-4218-49E5-8C4D-2C74697E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Agent 分级、schema、source refs、质量门、fallback、成本和 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0D48C-A0C2-49D7-B246-840F1B59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F1385-0564-4EC5-B067-038E8C1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企业级运行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D611A-F225-47B7-87FF-1AFB12B2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甘特图编辑、协同审批、权限审计、SLA、监控告警、私有化部署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541BB-1437-4767-AD20-580D094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结论：当前可以讲“从异常层进入排产系统”，不能讲“接入后立即替代所有排产系统”。替代必须靠真实生产发布样板证明。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AA304-39D1-4FE8-80D3-50CB7D5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新增能力清单见 investor_roadshow/ReOrch_从异常重决策到完整排产系统能力清单_20260704.md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B8542-CA23-480F-B6A1-A398949B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6471606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D0CC5-87C3-430E-850F-0A629E16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E4C79-F8F2-457A-9080-F53BF4D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路线：异常层是 wedge，完整排产系统是分阶段结果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C9B33-42B9-44F2-9A17-58AF322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37E09-DD75-42E9-8873-66D82EB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324100" cy="2857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94371-2382-4ADC-B86C-1E4458DF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0-3 个月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1C81A-06DC-4A7D-BED7-9173DB27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80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客户访谈、数据合同、真实历史 replay、Agent 评测集和 PoC 交付包。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C47CF-6CEA-4042-BB3F-307C1813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85950"/>
            <a:ext cx="2324100" cy="2857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96B6D-F946-49A6-A056-D0F1AF68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3-6 个月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29CC6-226C-48AE-B25E-9104206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180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付费 PoC、shadow mode、sandbox 人工确认回写、单车间设备故障和插单模板。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59960-60EB-4D33-BF6E-E35438C2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2324100" cy="2857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0BB94-AFEA-4354-A2C1-3A38D277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6-18 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5914E-7BA1-4FE5-B9E7-741937F4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180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行业标杆客户、MES/APS 适配器、车间年费、更多约束和滚动排程能力。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345A6-0654-4C47-8AC4-1118DD2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324100" cy="2857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C5240-B130-43FE-AF69-C6B39ED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18-36 个月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1ACA2-9460-4CFA-B9BA-65CEAD8C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80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真实生产发布样板，覆盖初始排程、滚动排程、异常重排和发布回写。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C7368-EA63-450B-90CC-982C627B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关键判断：第二个客户定制成本下降，且至少一个客户用 ReOrch 发布真实生产计划，才有资格谈替代传统排产系统。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8DBAA-C8A4-4F8B-B037-14FE202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从异常层到完整 APS，不是文案升级，而是能力、验证、运维和客户成功体系升级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0520C-50BB-4D73-9847-A1139D4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1276353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1132D5-1CEE-45FB-9C47-76050875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0D674-0332-43AF-87C1-3DB0F1D7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天使轮建议融资 600 万元，买 18 个月验证窗口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C77C4-452C-478D-9FB7-62C69026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5CC99-A63A-456A-97DD-828DE9D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22826-5A11-4994-822D-893E3BA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45%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74D07-0100-445F-9D54-60C930B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产品与算法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4663D-49ED-4420-AEC3-9237F556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异常重决策、求解器组合、质量门、AI Agent 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BFDCE-4CB7-4F53-A6D0-31135016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55DE1-A9C5-4E6E-8173-6E41434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B8A6"/>
                </a:solidFill>
              </a:defRPr>
            </a:pPr>
            <a:r>
              <a:rPr sz="2550" b="1">
                <a:solidFill>
                  <a:srgbClr val="14B8A6"/>
                </a:solidFill>
              </a:rPr>
              <a:t>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9DB90-B680-48A1-B148-B33A8DFB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3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试点交付与集成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36E22-F9B1-42B7-823E-500DEB66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客户驻场、只读接入、适配器、sandbox 回写演练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602CF-9939-44E6-A6C4-0271BC6D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07AED-5F56-4E1D-9385-09ADDC75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ABE18-CBEC-4D50-9FBE-0D7B936B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商务与客户成功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A3B9F-1814-4772-85C4-FAF27D2E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标杆客户、渠道伙伴、PoC 交付包、售前资料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8987B-DE72-4751-87B4-3F62771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CA065-7634-48B9-B5B6-ADFAD669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912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资金之外最需要的资源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E85F5-2FAF-418A-A431-6DFA8D3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912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2-3 家愿意提供真实排程数据、异常日志和执行反馈的试点工厂；MES/APS/工业互联网集成伙伴；制造业计划、IE、设备、供应链顾问。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E31DD-BD12-430F-A66B-A661CE60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若目标升级为完整 APS，后续融资需增加算法、实施、集成、SLA 和客户成功资源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62D26-EB6D-41CB-9CE4-E70A52D2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2017979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0FCDF-0E3A-413C-8862-15993ABF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ReOrch 智策 | Investor Roadshow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3F298-E3DF-477D-8A8E-B36AF31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投资判断：一个小切口，验证的是工业 AI 操作层大机会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CEA7D-600C-484B-AA09-EB665D3E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3BD72-DBDD-4535-B342-CEAA5CD6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值得投资的前提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F3D29-9CE9-4799-B4D1-CAFE69C9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4639B-2518-41BA-AAEC-0B3F499B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异常重决策能用客户数据证明节省时间、降低延期或减少协调成本。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415D8-DB0F-4B92-9317-BDA74C96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EE80B-EA10-46F0-91EB-046288E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计划员愿意在系统内确认、微调、驳回并记录原因。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191E4-395E-4E8F-8DF0-C1C33E9A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25B6D-FEE0-4377-8398-9D0ECF19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PoC 能转年费，第二个客户交付成本显著下降。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902B7-1191-4E0C-B58A-72A1FEB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A6"/>
                </a:solidFill>
              </a:defRPr>
            </a:pPr>
            <a:r>
              <a:rPr sz="2250" b="1">
                <a:solidFill>
                  <a:srgbClr val="14B8A6"/>
                </a:solidFill>
              </a:rPr>
              <a:t>核心结论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7A72D-3443-476D-8583-61A66C4B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ReOrch 不押注“AI 自动接管工厂”，而是从异常重决策切入，逐步补齐完整 APS 能力，最终让 AI、OR、质量门和人工确认共同构成企业自己的排产操作系统。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369B3-5DD7-4241-89A2-D0933A49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9601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D243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6AB76-C5BF-4686-814F-BADF4A4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1490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下一步要证明：真实客户 replay -&gt; shadow mode -&gt; 付费 PoC -&gt; 生产发布样板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8C21F-432D-4C05-B18C-B96594B3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详细来源和 claim boundary 见 investor_roadshow/source_notes.md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61C73-DAFA-4D5D-8896-452C568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2026-07-04</a:t>
            </a:r>
          </a:p>
        </p:txBody>
      </p:sp>
    </p:spTree>
    <p:extLst>
      <p:ext uri="{BB962C8B-B14F-4D97-AF65-F5344CB8AC3E}">
        <p14:creationId xmlns:p14="http://schemas.microsoft.com/office/powerpoint/2010/main" val="1062190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2026-07-04T06:42:49.0990000Z</dcterms:created>
  <dcterms:modified xsi:type="dcterms:W3CDTF">2026-07-04T06:42:49.0990000Z</dcterms:modified>
</coreProperties>
</file>